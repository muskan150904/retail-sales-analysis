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73" y="72"/>
      </p:cViewPr>
      <p:guideLst>
        <p:guide orient="horz" pos="2183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kan shukla" userId="37860d449560f48a" providerId="LiveId" clId="{90866415-CC92-4B8E-B10F-0C5E1B1A2EF1}"/>
    <pc:docChg chg="modSld">
      <pc:chgData name="muskan shukla" userId="37860d449560f48a" providerId="LiveId" clId="{90866415-CC92-4B8E-B10F-0C5E1B1A2EF1}" dt="2026-06-12T19:45:59.507" v="25" actId="20577"/>
      <pc:docMkLst>
        <pc:docMk/>
      </pc:docMkLst>
      <pc:sldChg chg="modSp mod">
        <pc:chgData name="muskan shukla" userId="37860d449560f48a" providerId="LiveId" clId="{90866415-CC92-4B8E-B10F-0C5E1B1A2EF1}" dt="2026-06-12T19:45:59.507" v="25" actId="20577"/>
        <pc:sldMkLst>
          <pc:docMk/>
          <pc:sldMk cId="0" sldId="256"/>
        </pc:sldMkLst>
        <pc:spChg chg="mod">
          <ac:chgData name="muskan shukla" userId="37860d449560f48a" providerId="LiveId" clId="{90866415-CC92-4B8E-B10F-0C5E1B1A2EF1}" dt="2026-06-12T19:45:59.507" v="25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4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image" Target="../media/image6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8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10510" y="989965"/>
            <a:ext cx="9799200" cy="2570400"/>
          </a:xfrm>
        </p:spPr>
        <p:txBody>
          <a:bodyPr/>
          <a:lstStyle/>
          <a:p>
            <a:r>
              <a:rPr lang="en-IN" altLang="en-US"/>
              <a:t>Superstore Sales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043860" y="3560400"/>
            <a:ext cx="9799200" cy="1472400"/>
          </a:xfrm>
        </p:spPr>
        <p:txBody>
          <a:bodyPr/>
          <a:lstStyle/>
          <a:p>
            <a:r>
              <a:rPr lang="en-US" altLang="en-US" dirty="0"/>
              <a:t>Prepared By:</a:t>
            </a:r>
            <a:r>
              <a:rPr lang="en-IN" altLang="en-US"/>
              <a:t>MUSKAN SHUKLA</a:t>
            </a:r>
          </a:p>
          <a:p>
            <a:r>
              <a:rPr lang="en-IN" altLang="en-US" dirty="0" err="1"/>
              <a:t>Tools:Python,Pandas,SQL</a:t>
            </a:r>
            <a:r>
              <a:rPr lang="en-IN" altLang="en-US" dirty="0"/>
              <a:t> </a:t>
            </a:r>
            <a:r>
              <a:rPr lang="en-IN" altLang="en-US" dirty="0" err="1"/>
              <a:t>Server,Matplotlib,Seaborn</a:t>
            </a:r>
            <a:endParaRPr lang="en-I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IN" altLang="en-US" b="1"/>
              <a:t>Dataset Overview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02590" y="1398270"/>
            <a:ext cx="5274945" cy="3771265"/>
          </a:xfrm>
        </p:spPr>
        <p:txBody>
          <a:bodyPr/>
          <a:lstStyle/>
          <a:p>
            <a:r>
              <a:rPr lang="en-US" altLang="en-US"/>
              <a:t>Source       : Superstore Sales Dataset</a:t>
            </a:r>
          </a:p>
          <a:p>
            <a:r>
              <a:rPr lang="en-US" altLang="en-US"/>
              <a:t>Period       : 2019 – 2022</a:t>
            </a:r>
          </a:p>
          <a:p>
            <a:r>
              <a:rPr lang="en-US" altLang="en-US"/>
              <a:t>Records      : 9,993 Transactions</a:t>
            </a:r>
          </a:p>
          <a:p>
            <a:r>
              <a:rPr lang="en-US" altLang="en-US"/>
              <a:t>Regions      : 4</a:t>
            </a:r>
          </a:p>
          <a:p>
            <a:r>
              <a:rPr lang="en-US" altLang="en-US"/>
              <a:t>States       : 49</a:t>
            </a:r>
          </a:p>
          <a:p>
            <a:r>
              <a:rPr lang="en-US" altLang="en-US"/>
              <a:t>Categories   : 3</a:t>
            </a:r>
          </a:p>
          <a:p>
            <a:r>
              <a:rPr lang="en-US" altLang="en-US"/>
              <a:t>Sub-Categories : 17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7471410" y="953770"/>
            <a:ext cx="3776345" cy="1572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en-US"/>
              <a:t>✓ Data Cleaning Performed</a:t>
            </a:r>
          </a:p>
          <a:p>
            <a:r>
              <a:rPr lang="en-US" altLang="en-US"/>
              <a:t>✓ Duplicate Records Removed</a:t>
            </a:r>
          </a:p>
          <a:p>
            <a:r>
              <a:rPr lang="en-US" altLang="en-US"/>
              <a:t>✓ Data Types Validated</a:t>
            </a:r>
          </a:p>
          <a:p>
            <a:r>
              <a:rPr lang="en-US" altLang="en-US"/>
              <a:t>✓ Missing Values Checked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558405" y="3154680"/>
            <a:ext cx="58413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/>
              <a:t>Coloumns used-: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Order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Discount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Sub-Category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Ship Mode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b="1"/>
              <a:t>KPI Summary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800100" y="3277870"/>
            <a:ext cx="283273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/>
              <a:t>Total Profit</a:t>
            </a:r>
          </a:p>
          <a:p>
            <a:endParaRPr lang="en-US" altLang="en-US"/>
          </a:p>
          <a:p>
            <a:r>
              <a:rPr lang="en-US" altLang="en-US"/>
              <a:t>$286.8 Thousand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862965" y="1742440"/>
            <a:ext cx="277050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/>
              <a:t>Total Sales</a:t>
            </a:r>
          </a:p>
          <a:p>
            <a:endParaRPr lang="en-US" altLang="en-US"/>
          </a:p>
          <a:p>
            <a:r>
              <a:rPr lang="en-US" altLang="en-US"/>
              <a:t>$2.30 Million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778510" y="4740910"/>
            <a:ext cx="2854960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/>
              <a:t>Total Orders</a:t>
            </a:r>
          </a:p>
          <a:p>
            <a:endParaRPr lang="en-US" altLang="en-US"/>
          </a:p>
          <a:p>
            <a:r>
              <a:rPr lang="en-US" altLang="en-US"/>
              <a:t>9,977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621020" y="2531745"/>
            <a:ext cx="4751705" cy="20300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company generated $2.30M in sales during the analysis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Overall profit reached $286.8K, indicating positive business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Nearly 10,000 customer orders were processed across multiple regions and product categories.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42385" y="186125"/>
            <a:ext cx="10969200" cy="705600"/>
          </a:xfrm>
        </p:spPr>
        <p:txBody>
          <a:bodyPr/>
          <a:lstStyle/>
          <a:p>
            <a:pPr algn="ctr"/>
            <a:r>
              <a:rPr lang="en-US" altLang="en-US" b="1"/>
              <a:t>Regional Sales &amp; Profit Performance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60170" y="891540"/>
            <a:ext cx="8861425" cy="48602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31825" y="5387975"/>
            <a:ext cx="10622280" cy="768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West region generates the highest sales and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Central region shows lower profitability relative to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South contributes the least to overall revenue.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2660" y="-24060"/>
            <a:ext cx="10969200" cy="705600"/>
          </a:xfrm>
        </p:spPr>
        <p:txBody>
          <a:bodyPr/>
          <a:lstStyle/>
          <a:p>
            <a:pPr algn="ctr"/>
            <a:r>
              <a:rPr lang="en-US" altLang="en-US" b="1"/>
              <a:t>Geographic Performance Analysis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4145" y="681355"/>
            <a:ext cx="4691380" cy="61766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091680" y="1417320"/>
            <a:ext cx="3610610" cy="23069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altLang="en-US" b="1"/>
              <a:t>Top Profit State</a:t>
            </a:r>
          </a:p>
          <a:p>
            <a:r>
              <a:rPr lang="en-US" altLang="en-US"/>
              <a:t>California → $76.4K</a:t>
            </a:r>
          </a:p>
          <a:p>
            <a:endParaRPr lang="en-US" altLang="en-US"/>
          </a:p>
          <a:p>
            <a:r>
              <a:rPr lang="en-US" altLang="en-US" b="1"/>
              <a:t>2nd Highest Profit</a:t>
            </a:r>
          </a:p>
          <a:p>
            <a:r>
              <a:rPr lang="en-US" altLang="en-US"/>
              <a:t>New York → $74.0K</a:t>
            </a:r>
          </a:p>
          <a:p>
            <a:endParaRPr lang="en-US" altLang="en-US"/>
          </a:p>
          <a:p>
            <a:r>
              <a:rPr lang="en-US" altLang="en-US" b="1"/>
              <a:t>Highest Loss State</a:t>
            </a:r>
          </a:p>
          <a:p>
            <a:r>
              <a:rPr lang="en-US" altLang="en-US"/>
              <a:t>Texas → -$25.7K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096000" y="4216400"/>
            <a:ext cx="56026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/>
              <a:t>Key Insights:</a:t>
            </a:r>
          </a:p>
          <a:p>
            <a:r>
              <a:rPr lang="en-US" altLang="en-US"/>
              <a:t>• California and New York are the primary profit engines.</a:t>
            </a:r>
          </a:p>
          <a:p>
            <a:r>
              <a:rPr lang="en-US" altLang="en-US"/>
              <a:t>• Profitability is concentrated in a few states.</a:t>
            </a:r>
          </a:p>
          <a:p>
            <a:r>
              <a:rPr lang="en-US" altLang="en-US"/>
              <a:t>• Texas, Ohio and Pennsylvania require immediate attention.</a:t>
            </a:r>
          </a:p>
          <a:p>
            <a:r>
              <a:rPr lang="en-US" altLang="en-US"/>
              <a:t>• Large regional performance gaps exist across the business.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0"/>
            <a:ext cx="10969200" cy="705600"/>
          </a:xfrm>
        </p:spPr>
        <p:txBody>
          <a:bodyPr/>
          <a:lstStyle/>
          <a:p>
            <a:pPr algn="ctr"/>
            <a:r>
              <a:rPr lang="en-US" altLang="en-US" b="1"/>
              <a:t>City Performance Analysis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440805" y="5129530"/>
            <a:ext cx="5019040" cy="1409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Several cities generate negative profit despite contributing sales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Loss-making cities require review of pricing, discounting, and operational efficiency.</a:t>
            </a:r>
            <a:endParaRPr lang="en-US" sz="140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923915" y="1136015"/>
            <a:ext cx="5839460" cy="3869055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1"/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2870" y="605155"/>
            <a:ext cx="5821045" cy="466852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874395" y="5130165"/>
            <a:ext cx="4709160" cy="1409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New York City and Los Angeles are the largest revenue-driving markets.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Sales are concentrated in a small number of major urban centers.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6805" y="309315"/>
            <a:ext cx="10969200" cy="705600"/>
          </a:xfrm>
        </p:spPr>
        <p:txBody>
          <a:bodyPr/>
          <a:lstStyle/>
          <a:p>
            <a:pPr algn="ctr"/>
            <a:r>
              <a:rPr lang="en-US" altLang="en-US" b="1"/>
              <a:t>Category Analysis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6"/>
          <a:srcRect t="431" b="431"/>
          <a:stretch>
            <a:fillRect/>
          </a:stretch>
        </p:blipFill>
        <p:spPr>
          <a:xfrm>
            <a:off x="6764020" y="1221105"/>
            <a:ext cx="4813300" cy="4290695"/>
          </a:xfrm>
        </p:spPr>
      </p:pic>
      <p:pic>
        <p:nvPicPr>
          <p:cNvPr id="11" name="Content Placeholder 10"/>
          <p:cNvPicPr>
            <a:picLocks noGrp="1" noChangeAspect="1"/>
          </p:cNvPicPr>
          <p:nvPr>
            <p:ph sz="half" idx="1"/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49250" y="1313815"/>
            <a:ext cx="5612130" cy="348107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869315" y="4794885"/>
            <a:ext cx="300926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altLang="en-US" sz="1400" b="1"/>
              <a:t>Highest Sales Category</a:t>
            </a:r>
          </a:p>
          <a:p>
            <a:pPr indent="0">
              <a:buNone/>
            </a:pPr>
            <a:r>
              <a:rPr lang="en-US" altLang="en-US" sz="1400"/>
              <a:t>Technology</a:t>
            </a:r>
          </a:p>
          <a:p>
            <a:pPr indent="0">
              <a:buNone/>
            </a:pPr>
            <a:endParaRPr lang="en-US" altLang="en-US" sz="1400"/>
          </a:p>
          <a:p>
            <a:pPr indent="0">
              <a:buNone/>
            </a:pPr>
            <a:r>
              <a:rPr lang="en-US" altLang="en-US" sz="1400" b="1"/>
              <a:t>Highest Profit Category</a:t>
            </a:r>
          </a:p>
          <a:p>
            <a:pPr indent="0">
              <a:buNone/>
            </a:pPr>
            <a:r>
              <a:rPr lang="en-US" altLang="en-US" sz="1400"/>
              <a:t>Technology</a:t>
            </a:r>
          </a:p>
          <a:p>
            <a:pPr indent="0">
              <a:buNone/>
            </a:pPr>
            <a:endParaRPr lang="en-US" altLang="en-US" sz="1400"/>
          </a:p>
          <a:p>
            <a:pPr indent="0">
              <a:buNone/>
            </a:pPr>
            <a:r>
              <a:rPr lang="en-US" altLang="en-US" sz="1400" b="1"/>
              <a:t>Highest Quantity Sold</a:t>
            </a:r>
          </a:p>
          <a:p>
            <a:pPr indent="0">
              <a:buNone/>
            </a:pPr>
            <a:r>
              <a:rPr lang="en-US" altLang="en-US" sz="1400"/>
              <a:t>Office Supplies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4646930" y="5808980"/>
            <a:ext cx="6930390" cy="645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Technology drives profitability, Office Supplies drive volume, while Furniture requires margin improvement.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15690" y="248355"/>
            <a:ext cx="10969200" cy="7056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/>
              <a:t>Customer Segment Analysis</a:t>
            </a:r>
            <a:br>
              <a:rPr lang="en-US" altLang="en-US" b="1"/>
            </a:br>
            <a:endParaRPr lang="en-US" altLang="en-US" b="1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7655" y="836930"/>
            <a:ext cx="5527040" cy="571436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08095" y="665540"/>
            <a:ext cx="5176800" cy="47484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en-US" sz="1400"/>
          </a:p>
          <a:p>
            <a:r>
              <a:rPr lang="zh-CN" altLang="en-US" sz="1400"/>
              <a:t>👥 </a:t>
            </a:r>
            <a:r>
              <a:rPr lang="en-US" altLang="en-US" sz="1400"/>
              <a:t>Consumer segment contributes the largest share of total profit, making it the company's most valuable customer segment.</a:t>
            </a:r>
          </a:p>
          <a:p>
            <a:endParaRPr lang="en-US" altLang="en-US" sz="1400"/>
          </a:p>
          <a:p>
            <a:r>
              <a:rPr lang="zh-CN" altLang="en-US" sz="1400"/>
              <a:t>💰 </a:t>
            </a:r>
            <a:r>
              <a:rPr lang="en-US" altLang="en-US" sz="1400"/>
              <a:t>Corporate customers represent a significant profit source and provide a stable secondary revenue stream.</a:t>
            </a:r>
          </a:p>
          <a:p>
            <a:endParaRPr lang="en-US" altLang="en-US" sz="1400"/>
          </a:p>
          <a:p>
            <a:r>
              <a:rPr lang="zh-CN" altLang="en-US" sz="1400"/>
              <a:t>📉 </a:t>
            </a:r>
            <a:r>
              <a:rPr lang="en-US" altLang="en-US" sz="1400"/>
              <a:t>Home Office contributes the smallest share of profit, indicating relatively lower market penetration.</a:t>
            </a:r>
          </a:p>
          <a:p>
            <a:endParaRPr lang="en-US" altLang="en-US" sz="1400"/>
          </a:p>
          <a:p>
            <a:r>
              <a:rPr lang="zh-CN" altLang="en-US" sz="1400"/>
              <a:t>🎯 </a:t>
            </a:r>
            <a:r>
              <a:rPr lang="en-US" altLang="en-US" sz="1400"/>
              <a:t>Business growth initiatives should prioritize Consumer and Corporate customers, as they generate the majority of profits.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4850"/>
            <a:ext cx="10969200" cy="705600"/>
          </a:xfrm>
        </p:spPr>
        <p:txBody>
          <a:bodyPr/>
          <a:lstStyle/>
          <a:p>
            <a:pPr algn="ctr"/>
            <a:r>
              <a:rPr lang="en-US" altLang="en-US" b="1"/>
              <a:t>Sub-Category Performance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7815" y="850265"/>
            <a:ext cx="10892155" cy="44157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08330" y="5193665"/>
            <a:ext cx="4510405" cy="13525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ea typeface="Microsoft YaHei" panose="020B0503020204020204" charset="-122"/>
              </a:rPr>
              <a:t>Phones generated the highest sales ($330K), making them the primary revenue driver.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ea typeface="Microsoft YaHei" panose="020B0503020204020204" charset="-122"/>
              </a:rPr>
              <a:t>Copiers delivered the highest profit ($55.6K), demonstrating strong profitability.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222490" y="5165725"/>
            <a:ext cx="473075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Tables recorded a loss of $17.3K despite generating over $206K in sales.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The performance gap across sub-categories highlights the need to focus on both sales and profitability.</a:t>
            </a: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  <a:p>
            <a:endParaRPr lang="en-US" sz="1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34690"/>
            <a:ext cx="10969200" cy="705600"/>
          </a:xfrm>
        </p:spPr>
        <p:txBody>
          <a:bodyPr/>
          <a:lstStyle/>
          <a:p>
            <a:pPr algn="ctr"/>
            <a:r>
              <a:rPr lang="en-US" altLang="en-US" b="1"/>
              <a:t>Discount &amp; Profitability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35940" y="840105"/>
            <a:ext cx="10260330" cy="42665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37870" y="5185410"/>
            <a:ext cx="42284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Higher discount levels are generally associated with lower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Several products become unprofitable when excessive discounts are applied.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</p:txBody>
      </p:sp>
      <p:sp>
        <p:nvSpPr>
          <p:cNvPr id="8" name="Text Box 7"/>
          <p:cNvSpPr txBox="1"/>
          <p:nvPr/>
        </p:nvSpPr>
        <p:spPr>
          <a:xfrm>
            <a:off x="5107305" y="5185410"/>
            <a:ext cx="6096000" cy="1192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Revenue growth through discounting does not always translate into profit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Optimizing discount policies can improve overall business profitability.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4415" y="227400"/>
            <a:ext cx="10969200" cy="705600"/>
          </a:xfrm>
        </p:spPr>
        <p:txBody>
          <a:bodyPr/>
          <a:lstStyle/>
          <a:p>
            <a:pPr algn="ctr"/>
            <a:r>
              <a:rPr lang="en-US" altLang="en-US" b="1"/>
              <a:t>Shipping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9250" y="1036955"/>
            <a:ext cx="6731635" cy="41757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050530" y="1139825"/>
            <a:ext cx="339280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Standard Class is the most preferred shipping mode among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Standard Class also contributes the highest overall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Faster shipping modes are used less frequently compared to standard delivery.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Customer preference indicates a stronger focus on cost-effective shipping rather than speed.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427605" y="5653405"/>
            <a:ext cx="651573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/>
              <a:t>Standard Class remains the dominant shipping option, balancing customer preference and profitability.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257880"/>
            <a:ext cx="10969200" cy="705600"/>
          </a:xfrm>
        </p:spPr>
        <p:txBody>
          <a:bodyPr/>
          <a:lstStyle/>
          <a:p>
            <a:pPr algn="ctr"/>
            <a:r>
              <a:rPr lang="en-US" altLang="en-US" b="1"/>
              <a:t>Region × Category Profit Heatmap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8740" y="1160145"/>
            <a:ext cx="8029575" cy="52177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467090" y="1586230"/>
            <a:ext cx="32785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Technology generates strong profits across most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Furniture profitability varies significantly by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Certain region-category combinations underperform despite generating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Profitability opportunities exist by optimizing category focus within specific regions.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 b="1"/>
              <a:t>Business Recommendations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789940" y="1501140"/>
            <a:ext cx="10798175" cy="5057140"/>
          </a:xfrm>
        </p:spPr>
        <p:txBody>
          <a:bodyPr/>
          <a:lstStyle/>
          <a:p>
            <a:r>
              <a:rPr lang="en-US" altLang="en-US" sz="2000"/>
              <a:t>Reduce discounts on loss-making products such as Tables.</a:t>
            </a:r>
          </a:p>
          <a:p>
            <a:r>
              <a:rPr lang="en-US" altLang="en-US" sz="2000"/>
              <a:t>Increase focus on high-profit products like Copiers and Phones.</a:t>
            </a:r>
          </a:p>
          <a:p>
            <a:r>
              <a:rPr lang="en-US" altLang="en-US" sz="2000"/>
              <a:t>Improve performance in loss-making states such as Texas and Ohio.</a:t>
            </a:r>
          </a:p>
          <a:p>
            <a:r>
              <a:rPr lang="en-US" altLang="en-US" sz="2000"/>
              <a:t>Continue investing in Technology category.</a:t>
            </a:r>
          </a:p>
          <a:p>
            <a:r>
              <a:rPr lang="en-US" altLang="en-US" sz="2000"/>
              <a:t>Optimize regional product strategies using category-level performance insights.</a:t>
            </a:r>
          </a:p>
          <a:p>
            <a:r>
              <a:rPr lang="en-US" altLang="en-US" sz="2000"/>
              <a:t>Maintain Standard Class as the primary shipping strategy.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3856990" y="2377440"/>
            <a:ext cx="4218940" cy="2668905"/>
          </a:xfrm>
        </p:spPr>
        <p:txBody>
          <a:bodyPr/>
          <a:lstStyle/>
          <a:p>
            <a:pPr marL="0" indent="0">
              <a:buNone/>
            </a:pPr>
            <a:r>
              <a:rPr lang="en-IN" altLang="en-US" sz="4000"/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Microsoft Office PowerPoint</Application>
  <PresentationFormat>Widescreen</PresentationFormat>
  <Paragraphs>121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WPS</vt:lpstr>
      <vt:lpstr>Superstore Sales Analytics</vt:lpstr>
      <vt:lpstr>Dataset Overview</vt:lpstr>
      <vt:lpstr>KPI Summary</vt:lpstr>
      <vt:lpstr>Regional Sales &amp; Profit Performance</vt:lpstr>
      <vt:lpstr>Geographic Performance Analysis</vt:lpstr>
      <vt:lpstr>City Performance Analysis</vt:lpstr>
      <vt:lpstr>Category Analysis</vt:lpstr>
      <vt:lpstr>Customer Segment Analysis </vt:lpstr>
      <vt:lpstr>Sub-Category Performance Analysis</vt:lpstr>
      <vt:lpstr>Discount &amp; Profitability Analysis</vt:lpstr>
      <vt:lpstr>Shipping Analysis</vt:lpstr>
      <vt:lpstr>Region × Category Profit Heatmap</vt:lpstr>
      <vt:lpstr>Business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Analytics</dc:title>
  <dc:creator/>
  <cp:lastModifiedBy>muskan shukla</cp:lastModifiedBy>
  <cp:revision>3</cp:revision>
  <dcterms:created xsi:type="dcterms:W3CDTF">2026-06-07T18:31:00Z</dcterms:created>
  <dcterms:modified xsi:type="dcterms:W3CDTF">2026-06-12T19:46:04Z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F7C62DB8BA434EB0852EBE751EA4C37D_12</vt:lpwstr>
  </property>
</Properties>
</file>